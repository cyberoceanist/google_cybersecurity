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"/>
      <p:regular r:id="rId7"/>
      <p:bold r:id="rId8"/>
      <p:italic r:id="rId9"/>
      <p:boldItalic r:id="rId10"/>
    </p:embeddedFont>
    <p:embeddedFont>
      <p:font typeface="Google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GoogleSans-regular.fntdata"/><Relationship Id="rId10" Type="http://schemas.openxmlformats.org/officeDocument/2006/relationships/font" Target="fonts/Roboto-boldItalic.fntdata"/><Relationship Id="rId13" Type="http://schemas.openxmlformats.org/officeDocument/2006/relationships/font" Target="fonts/GoogleSans-italic.fntdata"/><Relationship Id="rId12" Type="http://schemas.openxmlformats.org/officeDocument/2006/relationships/font" Target="fonts/Google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italic.fntdata"/><Relationship Id="rId14" Type="http://schemas.openxmlformats.org/officeDocument/2006/relationships/font" Target="fonts/Google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744909" y="70550"/>
            <a:ext cx="5109300" cy="5109300"/>
          </a:xfrm>
          <a:prstGeom prst="ellipse">
            <a:avLst/>
          </a:prstGeom>
          <a:solidFill>
            <a:srgbClr val="E6B8AF">
              <a:alpha val="38750"/>
            </a:srgbClr>
          </a:solidFill>
          <a:ln cap="flat" cmpd="sng" w="2857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13"/>
          <p:cNvGrpSpPr/>
          <p:nvPr/>
        </p:nvGrpSpPr>
        <p:grpSpPr>
          <a:xfrm>
            <a:off x="116816" y="70594"/>
            <a:ext cx="5109253" cy="5109253"/>
            <a:chOff x="2986712" y="1676962"/>
            <a:chExt cx="1854000" cy="1854000"/>
          </a:xfrm>
        </p:grpSpPr>
        <p:sp>
          <p:nvSpPr>
            <p:cNvPr id="56" name="Google Shape;56;p13"/>
            <p:cNvSpPr/>
            <p:nvPr/>
          </p:nvSpPr>
          <p:spPr>
            <a:xfrm>
              <a:off x="2986712" y="1676962"/>
              <a:ext cx="1854000" cy="1854000"/>
            </a:xfrm>
            <a:prstGeom prst="ellipse">
              <a:avLst/>
            </a:prstGeom>
            <a:solidFill>
              <a:srgbClr val="DEE7F2">
                <a:alpha val="64709"/>
              </a:srgbClr>
            </a:solidFill>
            <a:ln cap="flat" cmpd="sng" w="28575">
              <a:solidFill>
                <a:srgbClr val="A1C3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3606964" y="1726110"/>
              <a:ext cx="613500" cy="29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Wireshark</a:t>
              </a:r>
              <a:endParaRPr b="1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sp>
        <p:nvSpPr>
          <p:cNvPr id="58" name="Google Shape;58;p13"/>
          <p:cNvSpPr txBox="1"/>
          <p:nvPr/>
        </p:nvSpPr>
        <p:spPr>
          <a:xfrm>
            <a:off x="5805900" y="206050"/>
            <a:ext cx="11625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tcpdump</a:t>
            </a:r>
            <a:endParaRPr b="1"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915150" y="1366575"/>
            <a:ext cx="11202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Similarities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539766" y="1574345"/>
            <a:ext cx="27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084463" y="1149752"/>
            <a:ext cx="27777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Software application that is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downloaded and has a GUI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Offers features such as advanced filtering and coloring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more system resources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900450" y="1836375"/>
            <a:ext cx="1162500" cy="19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Both are open-source tools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Both are network 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protocol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analyzers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Filters for a specific protocol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998288" y="1149752"/>
            <a:ext cx="27777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CLI that is within Unix (Linux, MacOS)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fewer system resources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