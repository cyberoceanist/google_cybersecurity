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Roboto"/>
      <p:regular r:id="rId8"/>
      <p:bold r:id="rId9"/>
      <p:italic r:id="rId10"/>
      <p:boldItalic r:id="rId11"/>
    </p:embeddedFont>
    <p:embeddedFont>
      <p:font typeface="Google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Italic.fntdata"/><Relationship Id="rId10" Type="http://schemas.openxmlformats.org/officeDocument/2006/relationships/font" Target="fonts/Roboto-italic.fntdata"/><Relationship Id="rId13" Type="http://schemas.openxmlformats.org/officeDocument/2006/relationships/font" Target="fonts/GoogleSans-bold.fntdata"/><Relationship Id="rId12" Type="http://schemas.openxmlformats.org/officeDocument/2006/relationships/font" Target="fonts/Google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GoogleSans-boldItalic.fntdata"/><Relationship Id="rId14" Type="http://schemas.openxmlformats.org/officeDocument/2006/relationships/font" Target="fonts/Google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9419f719b3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9419f719b3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e118e9c68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e118e9c6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419550"/>
            <a:ext cx="7986000" cy="92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790">
                <a:solidFill>
                  <a:schemeClr val="dk1"/>
                </a:solidFill>
                <a:latin typeface="Google Sans"/>
                <a:ea typeface="Google Sans"/>
                <a:cs typeface="Google Sans"/>
                <a:sym typeface="Google Sans"/>
              </a:rPr>
              <a:t>Has this file hash been reported as malicious? Explain why or why not.</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0"/>
              </a:spcAft>
              <a:buSzPts val="605"/>
              <a:buNone/>
            </a:pPr>
            <a:r>
              <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1200"/>
              </a:spcAft>
              <a:buSzPts val="605"/>
              <a:buNone/>
            </a:pPr>
            <a:r>
              <a:t/>
            </a:r>
            <a:endParaRPr b="1" sz="1790">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Google Sans"/>
                <a:ea typeface="Google Sans"/>
                <a:cs typeface="Google Sans"/>
                <a:sym typeface="Google Sans"/>
              </a:rPr>
              <a:t>The file hash has been reported as malicious by over 50 vendors. Upon further investigation, this file hash is known as the malware Flagpro, which has been commonly used by the advanced threat actor BlackTech.</a:t>
            </a:r>
            <a:endParaRPr>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fmla="val 50000" name="adj"/>
              </a:avLst>
            </a:prstGeom>
            <a:solidFill>
              <a:schemeClr val="accent1"/>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14"/>
            <p:cNvCxnSpPr/>
            <p:nvPr/>
          </p:nvCxnSpPr>
          <p:spPr>
            <a:xfrm>
              <a:off x="2174888" y="1426450"/>
              <a:ext cx="1162500" cy="0"/>
            </a:xfrm>
            <a:prstGeom prst="straightConnector1">
              <a:avLst/>
            </a:prstGeom>
            <a:noFill/>
            <a:ln cap="flat" cmpd="sng" w="28575">
              <a:solidFill>
                <a:srgbClr val="FFFFFF"/>
              </a:solidFill>
              <a:prstDash val="solid"/>
              <a:round/>
              <a:headEnd len="med" w="med" type="none"/>
              <a:tailEnd len="med" w="med" type="none"/>
            </a:ln>
          </p:spPr>
        </p:cxnSp>
        <p:cxnSp>
          <p:nvCxnSpPr>
            <p:cNvPr id="63" name="Google Shape;63;p14"/>
            <p:cNvCxnSpPr/>
            <p:nvPr/>
          </p:nvCxnSpPr>
          <p:spPr>
            <a:xfrm>
              <a:off x="1714500" y="2214625"/>
              <a:ext cx="2094000" cy="0"/>
            </a:xfrm>
            <a:prstGeom prst="straightConnector1">
              <a:avLst/>
            </a:prstGeom>
            <a:noFill/>
            <a:ln cap="flat" cmpd="sng" w="28575">
              <a:solidFill>
                <a:srgbClr val="FFFFFF"/>
              </a:solidFill>
              <a:prstDash val="solid"/>
              <a:round/>
              <a:headEnd len="med" w="med" type="none"/>
              <a:tailEnd len="med" w="med" type="none"/>
            </a:ln>
          </p:spPr>
        </p:cxnSp>
        <p:cxnSp>
          <p:nvCxnSpPr>
            <p:cNvPr id="64" name="Google Shape;64;p14"/>
            <p:cNvCxnSpPr/>
            <p:nvPr/>
          </p:nvCxnSpPr>
          <p:spPr>
            <a:xfrm>
              <a:off x="1269525" y="2976625"/>
              <a:ext cx="2970900" cy="0"/>
            </a:xfrm>
            <a:prstGeom prst="straightConnector1">
              <a:avLst/>
            </a:prstGeom>
            <a:noFill/>
            <a:ln cap="flat" cmpd="sng" w="28575">
              <a:solidFill>
                <a:srgbClr val="FFFFFF"/>
              </a:solidFill>
              <a:prstDash val="solid"/>
              <a:round/>
              <a:headEnd len="med" w="med" type="none"/>
              <a:tailEnd len="med" w="med" type="none"/>
            </a:ln>
          </p:spPr>
        </p:cxnSp>
        <p:cxnSp>
          <p:nvCxnSpPr>
            <p:cNvPr id="65" name="Google Shape;65;p14"/>
            <p:cNvCxnSpPr/>
            <p:nvPr/>
          </p:nvCxnSpPr>
          <p:spPr>
            <a:xfrm>
              <a:off x="903063" y="3665615"/>
              <a:ext cx="3729900" cy="0"/>
            </a:xfrm>
            <a:prstGeom prst="straightConnector1">
              <a:avLst/>
            </a:prstGeom>
            <a:noFill/>
            <a:ln cap="flat" cmpd="sng" w="28575">
              <a:solidFill>
                <a:srgbClr val="FFFFFF"/>
              </a:solidFill>
              <a:prstDash val="solid"/>
              <a:round/>
              <a:headEnd len="med" w="med" type="none"/>
              <a:tailEnd len="med" w="med" type="none"/>
            </a:ln>
          </p:spPr>
        </p:cxnSp>
        <p:cxnSp>
          <p:nvCxnSpPr>
            <p:cNvPr id="66" name="Google Shape;66;p14"/>
            <p:cNvCxnSpPr/>
            <p:nvPr/>
          </p:nvCxnSpPr>
          <p:spPr>
            <a:xfrm>
              <a:off x="484250" y="4351425"/>
              <a:ext cx="4541700" cy="0"/>
            </a:xfrm>
            <a:prstGeom prst="straightConnector1">
              <a:avLst/>
            </a:prstGeom>
            <a:noFill/>
            <a:ln cap="flat" cmpd="sng" w="28575">
              <a:solidFill>
                <a:srgbClr val="FFFFFF"/>
              </a:solidFill>
              <a:prstDash val="solid"/>
              <a:round/>
              <a:headEnd len="med" w="med" type="none"/>
              <a:tailEnd len="med" w="med" type="none"/>
            </a:ln>
          </p:spPr>
        </p:cxnSp>
      </p:grpSp>
      <p:sp>
        <p:nvSpPr>
          <p:cNvPr id="67" name="Google Shape;67;p14"/>
          <p:cNvSpPr txBox="1"/>
          <p:nvPr/>
        </p:nvSpPr>
        <p:spPr>
          <a:xfrm>
            <a:off x="2424313" y="863775"/>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TTPs</a:t>
            </a:r>
            <a:endParaRPr b="1" sz="1700">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Tools</a:t>
            </a:r>
            <a:endParaRPr b="1" sz="1700">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lt1"/>
                </a:solidFill>
                <a:latin typeface="Google Sans"/>
                <a:ea typeface="Google Sans"/>
                <a:cs typeface="Google Sans"/>
                <a:sym typeface="Google Sans"/>
              </a:rPr>
              <a:t>Network/host artifacts</a:t>
            </a:r>
            <a:endParaRPr b="1" sz="1700">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Domain names</a:t>
            </a:r>
            <a:endParaRPr b="1" sz="1700">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IP addresses</a:t>
            </a:r>
            <a:endParaRPr b="1" sz="1700">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Hash values</a:t>
            </a:r>
            <a:endParaRPr b="1" sz="1700">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4" name="Google Shape;74;p14"/>
          <p:cNvSpPr/>
          <p:nvPr/>
        </p:nvSpPr>
        <p:spPr>
          <a:xfrm>
            <a:off x="4848450" y="82432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Command 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6" name="Google Shape;76;p14"/>
          <p:cNvSpPr/>
          <p:nvPr/>
        </p:nvSpPr>
        <p:spPr>
          <a:xfrm>
            <a:off x="5273525" y="15394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Input capture</a:t>
            </a:r>
            <a:endParaRPr sz="110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8" name="Google Shape;78;p14"/>
          <p:cNvSpPr/>
          <p:nvPr/>
        </p:nvSpPr>
        <p:spPr>
          <a:xfrm>
            <a:off x="5681325" y="23090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HTTP Requests</a:t>
            </a:r>
            <a:endParaRPr sz="110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0" name="Google Shape;80;p14"/>
          <p:cNvSpPr/>
          <p:nvPr/>
        </p:nvSpPr>
        <p:spPr>
          <a:xfrm>
            <a:off x="6120875" y="3012486"/>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org.misecure.com</a:t>
            </a:r>
            <a:endParaRPr sz="1100">
              <a:solidFill>
                <a:schemeClr val="dk1"/>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2" name="Google Shape;82;p14"/>
          <p:cNvSpPr/>
          <p:nvPr/>
        </p:nvSpPr>
        <p:spPr>
          <a:xfrm>
            <a:off x="6530225" y="37158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sz="1100">
                <a:solidFill>
                  <a:schemeClr val="dk1"/>
                </a:solidFill>
                <a:latin typeface="Google Sans"/>
                <a:ea typeface="Google Sans"/>
                <a:cs typeface="Google Sans"/>
                <a:sym typeface="Google Sans"/>
              </a:rPr>
              <a:t>207.148.109.242</a:t>
            </a:r>
            <a:endParaRPr sz="1100">
              <a:solidFill>
                <a:schemeClr val="dk1"/>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4" name="Google Shape;84;p14"/>
          <p:cNvSpPr/>
          <p:nvPr/>
        </p:nvSpPr>
        <p:spPr>
          <a:xfrm>
            <a:off x="6816475" y="44179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287d612e29b71c90aa54947313810a25</a:t>
            </a:r>
            <a:endParaRPr sz="1100">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